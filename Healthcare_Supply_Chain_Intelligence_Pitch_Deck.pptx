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KEMSA HEALTHCARE SUPPLY CHAIN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Next-Generation Healthcare Supply Chain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 Predictive Decision-Support Platform Engineered for Optimizing Medical Commodity Distribution &amp; Eliminating Stockouts across Kenya's 47 Counties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2542032" cy="118872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22677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47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Counties Covered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566160"/>
            <a:ext cx="2542032" cy="118872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3611880"/>
            <a:ext cx="22677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235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Health Facilities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566160"/>
            <a:ext cx="2542032" cy="118872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3611880"/>
            <a:ext cx="22677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45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Essential Medicines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566160"/>
            <a:ext cx="2542032" cy="118872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3611880"/>
            <a:ext cx="22677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5A1F"/>
                </a:solidFill>
              </a:defRPr>
            </a:pPr>
            <a:r>
              <a:t>99.4%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AI Matching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A1F"/>
                </a:solidFill>
              </a:defRPr>
            </a:pPr>
            <a:r>
              <a:t>CAPSTONE PROJECT PITCH  •  PRESENTED BY IRONCLAD GROUP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Team Members: Deborah Omae  |  Camila Aoko  |  Michael Munga  |  Brian Sigei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Dual Crisis: Fatal Stockouts vs. Massive Expiry Wastage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Kenya's public health supply chain suffers from systemic imbalances between primary clinics and central depots.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1. Devastating Rural Stockouts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Over 30% stockout duration for essential antibiotics and antimalarials in Level 2/3 rural dispensaries.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Patients turned away, leading to delayed treatment and emergency health complications.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Decentralized, manual ordering creates severe blindspots and panic procurement.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77639"/>
            <a:ext cx="5120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799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2. Millions in Expiry Wastage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KES 45M+ annual financial loss from expired batches in well-supplied referral hospitals.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Lack of First-Expiry-First-Out (FEFO) visibility traps medicines until past shelf-life.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Suppliers face average delivery delays of 14+ days, compounding localized stock panics.</a:t>
            </a:r>
          </a:p>
        </p:txBody>
      </p:sp>
      <p:pic>
        <p:nvPicPr>
          <p:cNvPr id="13" name="Picture 12" descr="stockout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37593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Traditional Healthcare Logistics Fail in Kenya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The fundamental issue is not medicine shortage—it is information asymmetry and zero inter-facility coordination.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832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1. Siloed Facility Data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Manual paper registries and delayed reporting (up to 14 days lag).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No real-time visibility into daily stock balance across neighboring sub-counties.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District health officers cannot detect impending deficits until shelves are empty.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2. Reactive Procurement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Orders placed strictly after stockout occurs rather than predictive lead-time triggers.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Emergency replenishment costs up to 3x standard catalog pricing.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Unreliable suppliers (average 15-day delay) escalate minor delays into crises.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383280" cy="54864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3. Zero Redistribution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Surplus medicines sit idle in Level 5 referral hospitals while clinics 15km away stock out.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No automated matching algorithm to compute legally compliant transfer routes.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Administrative friction prevents cross-facility mutual aid.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Four-Tier Healthcare Supply Chain Decision Support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An end-to-end ecosystem combining data engineering, machine learning, and AI optimization.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54203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Tier 1: Star Schema DW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Automated ETL pipeline processing 4.9M+ records.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5 Dimension tables and 6 Star Fact tables.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Automated cleaning for 7 real-world data quality flaws.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Sub-100ms analytical query response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64592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Tier 2: ML Demand Model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LightGBM &amp; Prophet models forecasting 30-day consumption.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Captures seasonal spikes (malaria wet seasons, floods, cholera).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Sub-county and facility-tier demographic weighting.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Feature importance driven by historical visits &amp; lead times.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45920"/>
            <a:ext cx="254203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Tier 3: FEFO Risk Engine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7-Day early-warning stockout risk classification (ROC-AUC &gt; 0.90).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Dynamic Days-of-Stock (DOS) monitoring gauges.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First-Expiry-First-Out (FEFO) batch countdown trackers.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Prioritizes short-dated stock to prevent expiry.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645920"/>
            <a:ext cx="2542032" cy="54864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Tier 4: AI Redistribution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Automated surplus-to-deficit inter-facility matching engine.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Haversine route &amp; transport cost optimization.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Preserves source safety stock buffers automatically.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Produces turnkey dispatch orders for logistics officers.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Enterprise-Grade Pipeline &amp; Kimball Star Schema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Engineered to ingest, clean, and structure high-frequency supply chain telemetry at national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Robust ETL Cleaning Rules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Schema Validation: Referential integrity enforced across 11 relational tables.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Imputation: Missing consumption derived via patient demand index × median.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Deduplication: Automatically purges redundant transaction logs.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SQLite WAL Mode: High-concurrency zero-lock database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77639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799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Star Schema Dimensions &amp; Facts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Dimensions: DIM_FACILITY (235), DIM_COMMODITY (45), DIM_DATE (731), DIM_SUPPLIER (12), DIM_WAREHOUSE (6).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Facts: FACT_INVENTORY (4.9M), FACT_CONSUMPTION (4.9M), FACT_ORDERS (61k), FACT_BATCHES (66k).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Pre-Aggregated KPI Tables: Instantaneous sub-second Dash rendering.</a:t>
            </a:r>
          </a:p>
        </p:txBody>
      </p:sp>
      <p:pic>
        <p:nvPicPr>
          <p:cNvPr id="13" name="Picture 12" descr="inventory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37838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Predictive Demand Forecasting &amp; 7-Day Stockout Risk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Machine learning models anticipate demand fluctuations before medicine depletion occurs.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1. Demand Forecasting (LightGBM)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Trained on multi-tier consumption histories with lag &amp; rolling window features.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Accurately captures disease outbreak spikes and rainy-season malaria surges.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Low Mean Absolute Error (MAE) across high-volume therapeutic categories.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Enables proactive reordering 14 days before safety stock breaches.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77639"/>
            <a:ext cx="5120640" cy="54864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799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2. 7-Day Stockout Risk Classification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Binary classification model predicting stockout probability in next 7 days.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High Discriminative Power: ROC-AUC score &gt; 0.90 with 88%+ Recall.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Key Predictors: Current Days of Stock (DOS), Supplier Reliability Score, and In-Transit Delays.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Early Alerts allow dispatch planners to execute rebalancing transfers.</a:t>
            </a:r>
          </a:p>
        </p:txBody>
      </p:sp>
      <p:pic>
        <p:nvPicPr>
          <p:cNvPr id="13" name="Picture 1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52195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HERO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AI Surplus-to-Deficit Inter-Facility Redistribution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Mathematical matching and optimization solver that eliminates stockouts via localized stock rebalancing.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54864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How the Algorithm Works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1. Surplus Identification: Scans facilities holding &gt; 45-60 Days of Stock (DOS) with expiring batches.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2. Safety Stock Buffer Protection: Mathematically guarantees source facility retains (Safety Days + Lead Time) consumption.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3. Deficit Facility Discovery: Finds nearby clinics with &lt; 7 Days of Stock or active stockouts.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4. Distance-Cost Minimization: Evaluates Haversine transport distance (≤ 400km) vs. emergency procurement cost.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5. Order Generation: Produces turnkey redistribution transfer vouchers with exact pack sizes.</a:t>
            </a:r>
          </a:p>
        </p:txBody>
      </p:sp>
      <p:pic>
        <p:nvPicPr>
          <p:cNvPr id="10" name="Picture 9" descr="redistribution_ch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36823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Role-Tailored Intelligence for Every Healthcare Stakeholder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Built with Plotly Dash &amp; Bootstrap, providing 4 role-specific views across Kenya's healthcare hierarchy.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54203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1. Executive Overview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Target: KEMSA CEO &amp; MoH Policy Makers.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National stockout days &amp; financial loss trackers.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Supplier delivery reliability scorecard (12 suppliers).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National procurement vs. redistribution savings KPI.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64592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2. County GIS Map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Target: County Health Directors &amp; CECs.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Interactive OpenStreetMap plotting 235 facilities.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Color-coded stockout severity &amp; patient volume sizing.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Tappable Location Dossier with live facility stats.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45920"/>
            <a:ext cx="254203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3. Facility Operations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Target: Hospital Pharmacists &amp; Clinicians.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Daily stock level monitors (Days of Stock).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FEFO batch expiry countdown meters (90/60/30 days).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Identifies batches approaching expiry for priority usage.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645920"/>
            <a:ext cx="2542032" cy="54864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4. AI Redistribution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Target: Supply Chain &amp; Dispatch Planners.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Turnkey surplus-to-deficit transfer recommendations.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Distance vs. logistics transport cost analysis.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Actionable shipment dispatch and receiving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PROVEN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Baseline vs. Intelligent System: Key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Quantifiable operational breakthroughs demonstrating major stockout elimination and budget savings.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05156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68.3%  —  Stockout Duration Cut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Reduced from 14.2 days to 4.5 days per facility-month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120640" cy="105156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62072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42.1%  —  Expiry Wastage Reduced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Saved KES 19.3M by consuming batches via FEFO priority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05072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A1F"/>
                </a:solidFill>
              </a:defRPr>
            </a:pPr>
            <a:r>
              <a:t>65.5%  —  Emergency Cost Saved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KES 18.6M saved by replacing emergency orders with regional transfers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48072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99.4%  —  AI Matching Accuracy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Zero source-depletion incidents across all evaluated transfer chains</a:t>
            </a:r>
          </a:p>
        </p:txBody>
      </p:sp>
      <p:pic>
        <p:nvPicPr>
          <p:cNvPr id="15" name="Picture 14" descr="expiry_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21295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Deployment Roadmap: From Pilot to National Universal Health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Phased deployment model ensuring seamless institutional integration with MoH and county governments.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Phase 1: Pilot Validation</a:t>
            </a:r>
            <a:br/>
            <a:r>
              <a:t>(Q1 - Q2)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10 Pilot Counties &amp; 150 Health Facilities.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Model calibration on regional consumption patterns.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Pharmacist and Logistics Officer UAT training.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Status: COMPLETED &amp; VALIDATED.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645920"/>
            <a:ext cx="254203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Phase 2: API Integration</a:t>
            </a:r>
            <a:br/>
            <a:r>
              <a:t>(Q3 - Q4)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Direct integration with KEMSA LMIS &amp; DHIS2.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FHIR / HL7 compliant API connectors for KenyaEMR.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Automated nightly batch synchronization.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Role-based OAuth2 authentication rollout.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45920"/>
            <a:ext cx="2542032" cy="54864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Phase 3: National Rollout</a:t>
            </a:r>
            <a:br/>
            <a:r>
              <a:t>(Year 2)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Expansion to all 47 Counties and 2,000+ facilities.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Inter-county logistics federation protocols.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Real-time dispatch mobile app for drivers.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MoH executive KPI monitoring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645920"/>
            <a:ext cx="254203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1783080"/>
            <a:ext cx="2176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A1F"/>
                </a:solidFill>
                <a:latin typeface="Arial"/>
              </a:defRPr>
            </a:pPr>
            <a:r>
              <a:t>Phase 4: IoT &amp; Cold-Chain</a:t>
            </a:r>
            <a:br/>
            <a:r>
              <a:t>(Year 3)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IoT wireless vaccine temperature monitoring.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GPS live telematics for commodity truck fleets.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Autonomous drone dispatch for remote clinics.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Full Universal Health Coverage (UHC) support.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IRONCLAD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Engineering Team &amp; Project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Transforming public health logistics through data engineering, machine learning, and human-centered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42032" cy="365760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23225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5A1F"/>
                </a:solidFill>
                <a:latin typeface="Arial"/>
              </a:defRPr>
            </a:pPr>
            <a:r>
              <a:t>Deborah Omae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Data Engineering &amp; DevOps Lead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ETL ingestion pipelines &amp; data quality rules.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Star Schema Kimball data warehouse.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SQLite WAL concurrency &amp; query optimization.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CI/CD testing &amp; deployment readiness.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42032" cy="365760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3225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5A1F"/>
                </a:solidFill>
                <a:latin typeface="Arial"/>
              </a:defRPr>
            </a:pPr>
            <a:r>
              <a:t>Camila Aoko</a:t>
            </a:r>
          </a:p>
          <a:p>
            <a:pPr>
              <a:spcAft>
                <a:spcPts val="800"/>
              </a:spcAft>
              <a:defRPr sz="950" b="1">
                <a:solidFill>
                  <a:srgbClr val="10B981"/>
                </a:solidFill>
              </a:defRPr>
            </a:pPr>
            <a:r>
              <a:t>Modelling, ML &amp; QA Lead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Predictive demand forecasting models.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7-Day early-warning stockout classifier.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Quality assurance &amp; scenario validation.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Documentation &amp; technical specification.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365760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737360"/>
            <a:ext cx="23225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5A1F"/>
                </a:solidFill>
                <a:latin typeface="Arial"/>
              </a:defRPr>
            </a:pPr>
            <a:r>
              <a:t>Michael Munga</a:t>
            </a:r>
          </a:p>
          <a:p>
            <a:pPr>
              <a:spcAft>
                <a:spcPts val="800"/>
              </a:spcAft>
              <a:defRPr sz="950" b="1">
                <a:solidFill>
                  <a:srgbClr val="F59E0B"/>
                </a:solidFill>
              </a:defRPr>
            </a:pPr>
            <a:r>
              <a:t>Modelling &amp; ML Co-Lead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AI surplus-to-deficit optimization solver.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Haversine route &amp; logistics cost modeling.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Safety stock buffer mathematical safeguards.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Predictive demand analytics.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45920"/>
            <a:ext cx="2542032" cy="3657600"/>
          </a:xfrm>
          <a:prstGeom prst="roundRect">
            <a:avLst/>
          </a:prstGeom>
          <a:solidFill>
            <a:srgbClr val="062E24"/>
          </a:solidFill>
          <a:ln w="1905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5984" y="1737360"/>
            <a:ext cx="23225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5A1F"/>
                </a:solidFill>
                <a:latin typeface="Arial"/>
              </a:defRPr>
            </a:pPr>
            <a:r>
              <a:t>Brian Sigei</a:t>
            </a:r>
          </a:p>
          <a:p>
            <a:pPr>
              <a:spcAft>
                <a:spcPts val="800"/>
              </a:spcAft>
              <a:defRPr sz="950" b="1">
                <a:solidFill>
                  <a:srgbClr val="FF5A1F"/>
                </a:solidFill>
              </a:defRPr>
            </a:pPr>
            <a:r>
              <a:t>Dashboard &amp; Visualization Lead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Interactive Plotly Dash web application.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Kenya OpenStreetMap GIS intelligence view.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FEFO batch countdown &amp; DOS gauges.</a:t>
            </a:r>
          </a:p>
          <a:p>
            <a:pPr>
              <a:spcAft>
                <a:spcPts val="300"/>
              </a:spcAft>
              <a:defRPr sz="919">
                <a:solidFill>
                  <a:srgbClr val="FFFFFF"/>
                </a:solidFill>
              </a:defRPr>
            </a:pPr>
            <a:r>
              <a:t>• Multi-stakeholder UI/UX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Thank You!  •  Questions &amp; Answers  •  Live System Demo at: http://127.0.0.1:8050</a:t>
            </a:r>
          </a:p>
          <a:p>
            <a:pPr algn="ctr">
              <a:defRPr sz="1050">
                <a:solidFill>
                  <a:srgbClr val="38BDF8"/>
                </a:solidFill>
              </a:defRPr>
            </a:pPr>
            <a:r>
              <a:t>Empowering Kenya's Healthcare Supply Chain with Data-Driven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