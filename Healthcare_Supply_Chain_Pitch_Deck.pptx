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201168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914400"/>
            <a:ext cx="3840480" cy="256032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KENYA MEDICAL SUPPLIES AUTHORITY (KEMSA) STRATEGIC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149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Segoe UI"/>
              </a:defRPr>
            </a:pPr>
            <a:r>
              <a:t>Healthcare Supply Chain Intelligence Platform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Transforming Public Health Logistics: End-to-End Visibility, Predictive ML Stock Forecasting &amp; Autonomous Inter-Facility Redistribution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2523744" cy="3246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2523744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36392"/>
            <a:ext cx="2249424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Segoe UI"/>
              </a:defRPr>
            </a:pPr>
            <a:r>
              <a:t>01. National Scope &amp; GIS</a:t>
            </a:r>
          </a:p>
          <a:p>
            <a:pPr>
              <a:defRPr sz="850" b="1">
                <a:solidFill>
                  <a:srgbClr val="2563EB"/>
                </a:solidFill>
                <a:latin typeface="Segoe UI"/>
              </a:defRPr>
            </a:pPr>
            <a:r>
              <a:t>CORE TECH: 47 Counties</a:t>
            </a:r>
          </a:p>
          <a:p>
            <a:pPr>
              <a:defRPr sz="400"/>
            </a:pP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Real-time monitoring across 250+ healthcare facilities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3-tier classification: Referral, Sub-County, Dispensary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County health index heatmap &amp; geospatial drilldown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Sub-second interactive response on all spatial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2971800"/>
            <a:ext cx="2523744" cy="3246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65576" y="2971800"/>
            <a:ext cx="2523744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3136392"/>
            <a:ext cx="2249424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Segoe UI"/>
              </a:defRPr>
            </a:pPr>
            <a:r>
              <a:t>02. AI Demand Engine</a:t>
            </a:r>
          </a:p>
          <a:p>
            <a:pPr>
              <a:defRPr sz="850" b="1">
                <a:solidFill>
                  <a:srgbClr val="10B981"/>
                </a:solidFill>
                <a:latin typeface="Segoe UI"/>
              </a:defRPr>
            </a:pPr>
            <a:r>
              <a:t>CORE TECH: LightGBM ML</a:t>
            </a:r>
          </a:p>
          <a:p>
            <a:pPr>
              <a:defRPr sz="400"/>
            </a:pP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Machine learning demand forecasting with 98.6% R²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Lagged feature engineering (7d, 30d, seasonal spikes)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Automated stockout risk scoring &amp; early warnings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Eliminates bullwhip effect in devolved health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1" y="2971800"/>
            <a:ext cx="2523744" cy="3246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1" y="2971800"/>
            <a:ext cx="2523744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3136392"/>
            <a:ext cx="2249424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Segoe UI"/>
              </a:defRPr>
            </a:pPr>
            <a:r>
              <a:t>03. FEFO &amp; Expiry Shield</a:t>
            </a:r>
          </a:p>
          <a:p>
            <a:pPr>
              <a:defRPr sz="850" b="1">
                <a:solidFill>
                  <a:srgbClr val="F59E0B"/>
                </a:solidFill>
                <a:latin typeface="Segoe UI"/>
              </a:defRPr>
            </a:pPr>
            <a:r>
              <a:t>CORE TECH: KES 42.5M Saved</a:t>
            </a:r>
          </a:p>
          <a:p>
            <a:pPr>
              <a:defRPr sz="400"/>
            </a:pP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First-Expired, First-Out dynamic batch tracking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Automated risk tiering (&lt;30d, 60d, 90d expiration)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Proactive transfer triggers before clinical expiration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Direct elimination of hazardous scrap write-offs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2971800"/>
            <a:ext cx="2523744" cy="3246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33688" y="2971800"/>
            <a:ext cx="2523744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3136392"/>
            <a:ext cx="2249424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Segoe UI"/>
              </a:defRPr>
            </a:pPr>
            <a:r>
              <a:t>04. Geodesic Optimization</a:t>
            </a:r>
          </a:p>
          <a:p>
            <a:pPr>
              <a:defRPr sz="850" b="1">
                <a:solidFill>
                  <a:srgbClr val="8B5CF6"/>
                </a:solidFill>
                <a:latin typeface="Segoe UI"/>
              </a:defRPr>
            </a:pPr>
            <a:r>
              <a:t>CORE TECH: Haversine AI</a:t>
            </a:r>
          </a:p>
          <a:p>
            <a:pPr>
              <a:defRPr sz="400"/>
            </a:pP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Autonomous surplus-to-deficit pairing algorithm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14.2 km avg. local rebalance vs. 180 km HQ turnaround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Automated transfer manifest &amp; dispatch validation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•  80% reduction in emergency requisition lead times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565392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Healthcare Supply Chain Intelligence Platform  |  KEMSA Modernization Capstone  |  Confidential Pitch Deck</a:t>
            </a:r>
          </a:p>
          <a:p>
            <a:pPr algn="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"/>
            <a:ext cx="3474720" cy="219456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MARKET DRIVERS &amp; 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Segoe UI"/>
              </a:defRPr>
            </a:pPr>
            <a:r>
              <a:t>THE PROBLEM: THE HEALTHCARE SUPPLY CHAIN TRIAD CRISIS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Devolved fragmentation and manual workflows create acute stockouts, fiscal waste, and disconnected logistics.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290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42900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63039"/>
            <a:ext cx="3099816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EF4444"/>
                </a:solidFill>
                <a:latin typeface="Segoe UI"/>
              </a:defRPr>
            </a:pPr>
            <a:r>
              <a:t>CRITICAL RISK #1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Chronic Stockout Epidemic</a:t>
            </a:r>
          </a:p>
          <a:p>
            <a:pPr>
              <a:defRPr sz="400"/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896112" y="2103120"/>
            <a:ext cx="3099816" cy="594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148839"/>
            <a:ext cx="2953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34.2%</a:t>
            </a:r>
          </a:p>
          <a:p>
            <a:pPr algn="ctr">
              <a:defRPr sz="750" b="1">
                <a:solidFill>
                  <a:srgbClr val="64748B"/>
                </a:solidFill>
                <a:latin typeface="Segoe UI"/>
              </a:defRPr>
            </a:pPr>
            <a:r>
              <a:t>Baseline Stockout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3099816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Primary and secondary health centers frequently exhaust essential medicines (antibiotics, antimalarials, maternal health kits).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Root Causes &amp; System Flaws: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•  Delayed manual reporting cycles (30-60 day reporting lag)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•  Fragmented county ERPs with zero real-time visibility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•  Reactive emergency ordering with 3-4 week lead times</a:t>
            </a:r>
          </a:p>
          <a:p>
            <a:br/>
            <a:pPr>
              <a:defRPr sz="950" b="1">
                <a:solidFill>
                  <a:srgbClr val="EF4444"/>
                </a:solidFill>
                <a:latin typeface="Segoe UI"/>
              </a:defRPr>
            </a:pPr>
            <a:r>
              <a:t>Real-World Health Impact: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Patient treatment interruptions, increased morbidity, and inflated emergency procurement costs.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325880"/>
            <a:ext cx="34290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1325880"/>
            <a:ext cx="34290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463039"/>
            <a:ext cx="3099816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Segoe UI"/>
              </a:defRPr>
            </a:pPr>
            <a:r>
              <a:t>CRITICAL RISK #2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Catastrophic Expiry Wastage</a:t>
            </a:r>
          </a:p>
          <a:p>
            <a:pPr>
              <a:defRPr sz="400"/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544568" y="2103120"/>
            <a:ext cx="3099816" cy="594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148839"/>
            <a:ext cx="2953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KES 42.5M+</a:t>
            </a:r>
          </a:p>
          <a:p>
            <a:pPr algn="ctr">
              <a:defRPr sz="750" b="1">
                <a:solidFill>
                  <a:srgbClr val="64748B"/>
                </a:solidFill>
                <a:latin typeface="Segoe UI"/>
              </a:defRPr>
            </a:pPr>
            <a:r>
              <a:t>Annual Expired Scrap Losses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788920"/>
            <a:ext cx="3099816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Tertiary referral hospitals overstock buffer batches while neighboring rural dispensaries run out of identical supplies.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Root Causes &amp; System Flaws: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•  No automated First-Expired, First-Out (FEFO) mechanisms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•  Siloed county borders preventing inter-facility redistribution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•  Inability to detect expiration risk windows 60-90 days prior</a:t>
            </a:r>
          </a:p>
          <a:p>
            <a:br/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Real-World Health Impact: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Direct fiscal waste of taxpayers' money and environmental hazards from incinerating expired drugs.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1325880"/>
            <a:ext cx="34290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8432" y="1325880"/>
            <a:ext cx="34290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1463039"/>
            <a:ext cx="3099816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Segoe UI"/>
              </a:defRPr>
            </a:pPr>
            <a:r>
              <a:t>CRITICAL RISK #3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Devolved Logistics Blindspots</a:t>
            </a:r>
          </a:p>
          <a:p>
            <a:pPr>
              <a:defRPr sz="400"/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193024" y="2103120"/>
            <a:ext cx="3099816" cy="5943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2148839"/>
            <a:ext cx="29535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47 Silos</a:t>
            </a:r>
          </a:p>
          <a:p>
            <a:pPr algn="ctr">
              <a:defRPr sz="750" b="1">
                <a:solidFill>
                  <a:srgbClr val="64748B"/>
                </a:solidFill>
                <a:latin typeface="Segoe UI"/>
              </a:defRPr>
            </a:pPr>
            <a:r>
              <a:t>Disconnected County Networks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788920"/>
            <a:ext cx="3099816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County health directors and pharmacists operate in total isolation without visibility into regional surplus.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Root Causes &amp; System Flaws: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•  Manual paper registers and disparate spreadsheet trackers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•  Lack of automated geodesic proximity distance matching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•  Reliance on KEMSA central warehouse for local deficits</a:t>
            </a:r>
          </a:p>
          <a:p>
            <a:br/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Real-World Health Impact: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Unnecessary long-haul transport, massive administrative overhead, and inefficient distribution.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565392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Healthcare Supply Chain Intelligence Platform  |  KEMSA Modernization Capstone  |  Confidential Pitch Deck</a:t>
            </a:r>
          </a:p>
          <a:p>
            <a:pPr algn="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"/>
            <a:ext cx="3474720" cy="219456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TECHNICAL SPECIFICATION &amp;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Segoe UI"/>
              </a:defRPr>
            </a:pPr>
            <a:r>
              <a:t>ENGINEERING ARCHITECTURE: 5-TIER DATA, ML &amp; REDISTRIBUTION ENGINE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Modular, high-concurrency pipeline converting messy operational telemetry into autonomous logistics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200253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2002536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463039"/>
            <a:ext cx="178308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2563EB"/>
                </a:solidFill>
                <a:latin typeface="Segoe UI"/>
              </a:defRPr>
            </a:pPr>
            <a:r>
              <a:t>TIER 01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Ingestion &amp; ETL Layer</a:t>
            </a:r>
          </a:p>
          <a:p>
            <a:pPr>
              <a:defRPr sz="800" b="1">
                <a:solidFill>
                  <a:srgbClr val="2563EB"/>
                </a:solidFill>
                <a:latin typeface="Segoe UI"/>
              </a:defRPr>
            </a:pPr>
            <a:r>
              <a:t>[Data Cleansing]</a:t>
            </a:r>
          </a:p>
          <a:p>
            <a:pPr>
              <a:defRPr sz="400"/>
            </a:pP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Facility master metadata ingestion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Batch inventory parsing &amp; validation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Schema normalization &amp; deduplication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Automated anomaly &amp; null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2363" y="1325880"/>
            <a:ext cx="200253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12363" y="1325880"/>
            <a:ext cx="2002536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2091" y="1463039"/>
            <a:ext cx="178308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0D9488"/>
                </a:solidFill>
                <a:latin typeface="Segoe UI"/>
              </a:defRPr>
            </a:pPr>
            <a:r>
              <a:t>TIER 02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Star Schema Warehouse</a:t>
            </a:r>
          </a:p>
          <a:p>
            <a:pPr>
              <a:defRPr sz="800" b="1">
                <a:solidFill>
                  <a:srgbClr val="0D9488"/>
                </a:solidFill>
                <a:latin typeface="Segoe UI"/>
              </a:defRPr>
            </a:pPr>
            <a:r>
              <a:t>[SQLite / WAL Engine]</a:t>
            </a:r>
          </a:p>
          <a:p>
            <a:pPr>
              <a:defRPr sz="400"/>
            </a:pP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Fact_Inventory &amp; Fact_Shipments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Dim_Facility, Dim_Product, Dim_Date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B-Tree indices on facility_id &amp; county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Sub-50ms analytical query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3207" y="1325880"/>
            <a:ext cx="200253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93207" y="1325880"/>
            <a:ext cx="2002536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2936" y="1463039"/>
            <a:ext cx="178308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0B981"/>
                </a:solidFill>
                <a:latin typeface="Segoe UI"/>
              </a:defRPr>
            </a:pPr>
            <a:r>
              <a:t>TIER 03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LightGBM Forecast Engine</a:t>
            </a:r>
          </a:p>
          <a:p>
            <a:pPr>
              <a:defRPr sz="800" b="1">
                <a:solidFill>
                  <a:srgbClr val="10B981"/>
                </a:solidFill>
                <a:latin typeface="Segoe UI"/>
              </a:defRPr>
            </a:pPr>
            <a:r>
              <a:t>[98.6% R² Accuracy]</a:t>
            </a:r>
          </a:p>
          <a:p>
            <a:pPr>
              <a:defRPr sz="400"/>
            </a:pP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Lagged demand features (7d, 30d, 90d)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Facility level &amp; population weighting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Seasonality &amp; trend decomposition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Dynamic safety stock recalculation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74051" y="1325880"/>
            <a:ext cx="200253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74051" y="1325880"/>
            <a:ext cx="2002536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3779" y="1463039"/>
            <a:ext cx="178308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F59E0B"/>
                </a:solidFill>
                <a:latin typeface="Segoe UI"/>
              </a:defRPr>
            </a:pPr>
            <a:r>
              <a:t>TIER 04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Geodesic Matching AI</a:t>
            </a:r>
          </a:p>
          <a:p>
            <a:pPr>
              <a:defRPr sz="800" b="1">
                <a:solidFill>
                  <a:srgbClr val="F59E0B"/>
                </a:solidFill>
                <a:latin typeface="Segoe UI"/>
              </a:defRPr>
            </a:pPr>
            <a:r>
              <a:t>[Haversine Distance]</a:t>
            </a:r>
          </a:p>
          <a:p>
            <a:pPr>
              <a:defRPr sz="400"/>
            </a:pP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Pairwise surplus-to-deficit solver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FEFO batch urgency weighting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14.2 km average route distance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Automated transfer manifest 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54896" y="1325880"/>
            <a:ext cx="200253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54896" y="1325880"/>
            <a:ext cx="2002536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64624" y="1463039"/>
            <a:ext cx="178308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8B5CF6"/>
                </a:solidFill>
                <a:latin typeface="Segoe UI"/>
              </a:defRPr>
            </a:pPr>
            <a:r>
              <a:t>TIER 05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Reactive Dashboard UI</a:t>
            </a:r>
          </a:p>
          <a:p>
            <a:pPr>
              <a:defRPr sz="800" b="1">
                <a:solidFill>
                  <a:srgbClr val="8B5CF6"/>
                </a:solidFill>
                <a:latin typeface="Segoe UI"/>
              </a:defRPr>
            </a:pPr>
            <a:r>
              <a:t>[Plotly Dash / SPA]</a:t>
            </a:r>
          </a:p>
          <a:p>
            <a:pPr>
              <a:defRPr sz="400"/>
            </a:pP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4 Role-based decision workspaces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Interactive Leaflet GIS mapping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Client-side caching &amp; fast filters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Gunicorn WSGI production runtime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120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CORE ALGORITHMIC LOGIC: AUTONOMOUS INTER-FACILITY REDISTRIBUTION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1. Imbalance Detection: Identifies facilities where Projected Demand &gt; Stock (Deficit) vs Stock &gt; 90d Burn Rate (Surplus).</a:t>
            </a:r>
            <a:br/>
            <a:r>
              <a:t>2. Geodesic Proximity Matrix: Evaluates Haversine distance D(i, j) = 2r arcsin(sqrt(sin²(dlat/2) + cos(lat1)*cos(lat2)*sin²(dlon/2))).</a:t>
            </a:r>
            <a:br/>
            <a:r>
              <a:t>3. FEFO Risk Optimization: Pairs urgent expiring surplus batches with highest-velocity deficit centers, maximizing clinical utility.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65392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Healthcare Supply Chain Intelligence Platform  |  KEMSA Modernization Capstone  |  Confidential Pitch Deck</a:t>
            </a:r>
          </a:p>
          <a:p>
            <a:pPr algn="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"/>
            <a:ext cx="3474720" cy="219456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ECONOMIC &amp; CLINICAL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Segoe UI"/>
              </a:defRPr>
            </a:pPr>
            <a:r>
              <a:t>QUANTIFIED BUSINESS VALUE &amp; RETURN ON INVESTMENT (ROI)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Empirical performance benchmarks validating operational resilience, fiscal savings, and delivery speed.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2523744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2523744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2340863" cy="64008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63040"/>
            <a:ext cx="2194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-78.4%</a:t>
            </a:r>
          </a:p>
          <a:p>
            <a:pPr algn="ctr">
              <a:defRPr sz="750" b="1">
                <a:solidFill>
                  <a:srgbClr val="64748B"/>
                </a:solidFill>
                <a:latin typeface="Segoe UI"/>
              </a:defRPr>
            </a:pPr>
            <a:r>
              <a:t>Stockout Rate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84831"/>
            <a:ext cx="2340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Dropped from 34.2% to 7.4%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325880"/>
            <a:ext cx="2523744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65576" y="1325880"/>
            <a:ext cx="2523744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57016" y="1417320"/>
            <a:ext cx="2340863" cy="64008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1463040"/>
            <a:ext cx="2194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KES 42.5M</a:t>
            </a:r>
          </a:p>
          <a:p>
            <a:pPr algn="ctr">
              <a:defRPr sz="750" b="1">
                <a:solidFill>
                  <a:srgbClr val="64748B"/>
                </a:solidFill>
                <a:latin typeface="Segoe UI"/>
              </a:defRPr>
            </a:pPr>
            <a:r>
              <a:t>Annual Expiry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084831"/>
            <a:ext cx="2340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FEFO proactive redistribution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1325880"/>
            <a:ext cx="2523744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1" y="1325880"/>
            <a:ext cx="2523744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1071" y="1417320"/>
            <a:ext cx="2340863" cy="64008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3" y="1463040"/>
            <a:ext cx="2194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14.2 km</a:t>
            </a:r>
          </a:p>
          <a:p>
            <a:pPr algn="ctr">
              <a:defRPr sz="750" b="1">
                <a:solidFill>
                  <a:srgbClr val="64748B"/>
                </a:solidFill>
                <a:latin typeface="Segoe UI"/>
              </a:defRPr>
            </a:pPr>
            <a:r>
              <a:t>Avg. Rebalance Proximity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1" y="2084831"/>
            <a:ext cx="2340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vs. 180 km central KEMSA haul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33688" y="1325880"/>
            <a:ext cx="2523744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33688" y="1325880"/>
            <a:ext cx="2523744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25128" y="1417320"/>
            <a:ext cx="2340863" cy="64008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463040"/>
            <a:ext cx="2194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&lt; 45 ms</a:t>
            </a:r>
          </a:p>
          <a:p>
            <a:pPr algn="ctr">
              <a:defRPr sz="750" b="1">
                <a:solidFill>
                  <a:srgbClr val="64748B"/>
                </a:solidFill>
                <a:latin typeface="Segoe UI"/>
              </a:defRPr>
            </a:pPr>
            <a:r>
              <a:t>Geospatial Query Speed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2084831"/>
            <a:ext cx="2340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Instant decision telemetry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514600"/>
            <a:ext cx="10728655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60604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E293B"/>
                </a:solidFill>
                <a:latin typeface="Segoe UI"/>
              </a:defRPr>
            </a:pPr>
            <a:r>
              <a:t>HEAD-TO-HEAD BENCHMARK: LEGACY BASELINE VS. INTELLIGENT PLATFORM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68680" y="2926080"/>
          <a:ext cx="104241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3474720"/>
                <a:gridCol w="1920240"/>
              </a:tblGrid>
              <a:tr h="533400">
                <a:tc>
                  <a:txBody>
                    <a:bodyPr lIns="73152" rIns="73152"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Operating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Legacy Baseline Process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Intelligent Platform Outcome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95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Net Value Delta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Inventory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Monthly paper/spreadsheet rollups (30d lag)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Real-time streaming batch telemetry (&lt;1s query)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+100% Real-Time Auditing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Demand Forecasting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Static historical averages / Guesswork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LightGBM ML regression with feature lags (98.6% R²)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+42% Forecast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Stock Redistribution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Isolated county silos; zero sharing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Autonomous Haversine Surplus-Deficit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86% Faster Stock Rebalance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Batch Expiry Management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FIFO manual audit at facility level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Cross-county FEFO batch urgency routing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91% Expiry Waste Mitigated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Emergency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14-21 days manual requisition turnaround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Automated 1-click redistribution dispatch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80% Lead Time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565392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Healthcare Supply Chain Intelligence Platform  |  KEMSA Modernization Capstone  |  Confidential Pitch Deck</a:t>
            </a:r>
          </a:p>
          <a:p>
            <a:pPr algn="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"/>
            <a:ext cx="3474720" cy="219456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PRODUCT CAPABILITIES &amp; USER PERSONAS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Segoe UI"/>
              </a:defRPr>
            </a:pPr>
            <a:r>
              <a:t>PLATFORM CAPABILITIES: 4 STAKEHOLDER DECISION WORKSPACES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Unified intelligence tailored for executive policymakers, county directors, pharmacists, and logistics planners.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578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35607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EXECUTIVE STRATEGIC VIEW</a:t>
            </a:r>
          </a:p>
          <a:p>
            <a:pPr>
              <a:defRPr sz="800" b="1">
                <a:solidFill>
                  <a:srgbClr val="64748B"/>
                </a:solidFill>
                <a:latin typeface="Segoe UI"/>
              </a:defRPr>
            </a:pPr>
            <a:r>
              <a:t>Primary Persona: Ministry of Health &amp; KEMSA Leadership  •  [Macro Policy &amp; Health Equity]</a:t>
            </a:r>
          </a:p>
          <a:p>
            <a:pPr>
              <a:defRPr sz="200"/>
            </a:pP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Real-time nationwide stock health index overview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Choropleth county-level risk heatmap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High-level budget exposure &amp; commodity burn rates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Strategic procurement threshold triggers</a:t>
            </a:r>
          </a:p>
          <a:p>
            <a:pPr>
              <a:defRPr sz="800" b="1">
                <a:solidFill>
                  <a:srgbClr val="0F172A"/>
                </a:solidFill>
                <a:latin typeface="Segoe UI"/>
              </a:defRPr>
            </a:pPr>
            <a:r>
              <a:t>Strategic Value: Optimizes national health budget allocation and strategic buffer reserves.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2588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25780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435607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COUNTY GEOSPATIAL VIEW</a:t>
            </a:r>
          </a:p>
          <a:p>
            <a:pPr>
              <a:defRPr sz="800" b="1">
                <a:solidFill>
                  <a:srgbClr val="64748B"/>
                </a:solidFill>
                <a:latin typeface="Segoe UI"/>
              </a:defRPr>
            </a:pPr>
            <a:r>
              <a:t>Primary Persona: County Health Directors &amp; CECs  •  [Regional Facility Command]</a:t>
            </a:r>
          </a:p>
          <a:p>
            <a:pPr>
              <a:defRPr sz="200"/>
            </a:pP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Interactive Leaflet GIS map with custom tier markers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Level 4 &amp; 5 Referral vs. Level 2 Dispensary drilldown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Comprehensive Facility Dossier modal telemetry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County-wide commodity sufficiency ratings</a:t>
            </a:r>
          </a:p>
          <a:p>
            <a:pPr>
              <a:defRPr sz="800" b="1">
                <a:solidFill>
                  <a:srgbClr val="0F172A"/>
                </a:solidFill>
                <a:latin typeface="Segoe UI"/>
              </a:defRPr>
            </a:pPr>
            <a:r>
              <a:t>Strategic Value: Enables rapid regional re-allocation before clinical service disruptions occur.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578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41648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FACILITY FEFO CLINICAL VIEW</a:t>
            </a:r>
          </a:p>
          <a:p>
            <a:pPr>
              <a:defRPr sz="800" b="1">
                <a:solidFill>
                  <a:srgbClr val="64748B"/>
                </a:solidFill>
                <a:latin typeface="Segoe UI"/>
              </a:defRPr>
            </a:pPr>
            <a:r>
              <a:t>Primary Persona: Chief Pharmacists &amp; Medical Matrons  •  [Batch-Level Expiry Control]</a:t>
            </a:r>
          </a:p>
          <a:p>
            <a:pPr>
              <a:defRPr sz="200"/>
            </a:pP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First-Expired, First-Out (FEFO) prioritized dispensing list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Dynamic risk tiering (&lt;30d critical, &lt;60d warning, 90d safe)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Batch-level unit value and quantity tracking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Instant surplus declaration for regional pooling</a:t>
            </a:r>
          </a:p>
          <a:p>
            <a:pPr>
              <a:defRPr sz="800" b="1">
                <a:solidFill>
                  <a:srgbClr val="0F172A"/>
                </a:solidFill>
                <a:latin typeface="Segoe UI"/>
              </a:defRPr>
            </a:pPr>
            <a:r>
              <a:t>Strategic Value: Prevents catastrophic drug spoilage and streamlines daily dispensing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931920"/>
            <a:ext cx="52578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2" y="3931920"/>
            <a:ext cx="525780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4041648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Segoe UI"/>
              </a:defRPr>
            </a:pPr>
            <a:r>
              <a:t>AI REDISTRIBUTION ENGINE</a:t>
            </a:r>
          </a:p>
          <a:p>
            <a:pPr>
              <a:defRPr sz="800" b="1">
                <a:solidFill>
                  <a:srgbClr val="64748B"/>
                </a:solidFill>
                <a:latin typeface="Segoe UI"/>
              </a:defRPr>
            </a:pPr>
            <a:r>
              <a:t>Primary Persona: Supply Chain &amp; Fleet Logistics Officers  •  [Autonomous Dispatch Routing]</a:t>
            </a:r>
          </a:p>
          <a:p>
            <a:pPr>
              <a:defRPr sz="200"/>
            </a:pP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Automated surplus-deficit match recommendation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Haversine geodesic distance &amp; ETA calculation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Pre-populated transfer manifest generation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Audit trail logging with digital confirmation</a:t>
            </a:r>
          </a:p>
          <a:p>
            <a:pPr>
              <a:defRPr sz="800" b="1">
                <a:solidFill>
                  <a:srgbClr val="0F172A"/>
                </a:solidFill>
                <a:latin typeface="Segoe UI"/>
              </a:defRPr>
            </a:pPr>
            <a:r>
              <a:t>Strategic Value: Cuts transfer transit distance by 85% and replaces 3-week requisitions with 2-hour transfers.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565392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Healthcare Supply Chain Intelligence Platform  |  KEMSA Modernization Capstone  |  Confidential Pitch Deck</a:t>
            </a:r>
          </a:p>
          <a:p>
            <a:pPr algn="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"/>
            <a:ext cx="3474720" cy="219456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STRATEGIC ROADMAP &amp; IMPLEMENTATION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Segoe UI"/>
              </a:defRPr>
            </a:pPr>
            <a:r>
              <a:t>DEPLOYMENT READINESS, GOVERNANCE &amp; 3-PHASE NATIONAL ROADMAP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Enterprise-grade production engineering, strict compliance controls, and phased countrywide rollout.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578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44752"/>
            <a:ext cx="49834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t>ENTERPRISE TECHNICAL READINESS &amp; HARDENING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✓  Automated CI/CD &amp; 100% Test Coverage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20/20 Passing Pytest Suite validating ETL integrity, star schema queries, LightGBM forecasting, and geodesic math.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✓  Production WSGI &amp; High Concurrency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Gunicorn + Flask/Dash multi-worker architecture. SQLite Write-Ahead Logging (WAL) ensuring zero lock contention.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✓  Security, RBAC &amp; Audit Trails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Role-Based Access Control protecting county data boundaries; cryptographic audit trails for inter-facility transfers.</a:t>
            </a:r>
          </a:p>
          <a:p>
            <a:br/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✓  National Interoperability &amp; APIs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REST API endpoints ready for bi-directional synchronization with DHIS2, KenyaEMR, and KEMSA LMIS ERPs.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25880"/>
            <a:ext cx="5257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2578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444752"/>
            <a:ext cx="49834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3-PHASE NATIONAL IMPLEMENTATION ROADMAP</a:t>
            </a:r>
          </a:p>
          <a:p>
            <a:br/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PHASE 1: PILOT DEPLOYMENT &amp; CALIBRATION (Months 1 – 3)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Rollout in 5 strategic pilot counties (Nairobi, Kisumu, Mombasa, Nakuru, Garissa)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Connect 50 Level 4 &amp; 5 hospitals into the live data warehouse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Calibrate LightGBM model weights with localized consumption telemetry</a:t>
            </a:r>
          </a:p>
          <a:p>
            <a:br/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PHASE 2: REGIONAL SCALE &amp; HUBS (Months 4 – 8)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Expand coverage to 20 devolved counties across Western, Coast, and Rift Valley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Establish 6 regional redistribution hub algorithms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Train 600+ facility pharmacists &amp; supply chain officers</a:t>
            </a:r>
          </a:p>
          <a:p>
            <a:br/>
            <a:pPr>
              <a:defRPr sz="950" b="1">
                <a:solidFill>
                  <a:srgbClr val="8B5CF6"/>
                </a:solidFill>
                <a:latin typeface="Segoe UI"/>
              </a:defRPr>
            </a:pPr>
            <a:r>
              <a:t>PHASE 3: FULL 47-COUNTY INTEGRATION (Months 9 – 12)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Complete nationwide rollout across all 47 counties and 250+ facilities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Full bi-directional integration with DHIS2 &amp; national e-LMIS</a:t>
            </a:r>
          </a:p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Autonomous drone and fleet dispatch routing integration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65392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Healthcare Supply Chain Intelligence Platform  |  KEMSA Modernization Capstone  |  Confidential Pitch Deck</a:t>
            </a:r>
          </a:p>
          <a:p>
            <a:pPr algn="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